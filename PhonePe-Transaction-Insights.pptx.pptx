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" charset="1" panose="02000000000000000000"/>
      <p:regular r:id="rId19"/>
    </p:embeddedFont>
    <p:embeddedFont>
      <p:font typeface="Open Sans Bold" charset="1" panose="00000000000000000000"/>
      <p:regular r:id="rId20"/>
    </p:embeddedFont>
    <p:embeddedFont>
      <p:font typeface="Open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3.png" Type="http://schemas.openxmlformats.org/officeDocument/2006/relationships/image"/><Relationship Id="rId4" Target="https://phonepe-transaction-insights-ms7sqpb5neh8gpfdjqrz8u.streamlit.app/" TargetMode="External" Type="http://schemas.openxmlformats.org/officeDocument/2006/relationships/hyperlink"/><Relationship Id="rId5" Target="https://github.com/SourabhKhamankar22/PhonePe-Transaction-Insight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511306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PhonePe Transaction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06180"/>
            <a:ext cx="836339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Engineering &amp; Exploratory Data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207623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Sourabh Khamankar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1069" y="802034"/>
            <a:ext cx="11858057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Executive Summary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1069" y="2103987"/>
            <a:ext cx="16425862" cy="8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PhonePe facilitates millions of transactions daily, generating a massive and complex data trail. This project harnesses the PhonePe Pulse dataset to decode transaction dynamics and drive strategic decision-making.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1069" y="3266923"/>
            <a:ext cx="8088068" cy="2969866"/>
            <a:chOff x="0" y="0"/>
            <a:chExt cx="10784091" cy="3959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4078" cy="3959860"/>
            </a:xfrm>
            <a:custGeom>
              <a:avLst/>
              <a:gdLst/>
              <a:ahLst/>
              <a:cxnLst/>
              <a:rect r="r" b="b" t="t" l="l"/>
              <a:pathLst>
                <a:path h="3959860" w="10784078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30865" y="0"/>
                  </a:lnTo>
                  <a:cubicBezTo>
                    <a:pt x="10760202" y="0"/>
                    <a:pt x="10784078" y="23876"/>
                    <a:pt x="10784078" y="53213"/>
                  </a:cubicBezTo>
                  <a:lnTo>
                    <a:pt x="10784078" y="3906647"/>
                  </a:lnTo>
                  <a:cubicBezTo>
                    <a:pt x="10784078" y="3935984"/>
                    <a:pt x="10760202" y="3959860"/>
                    <a:pt x="10730865" y="3959860"/>
                  </a:cubicBezTo>
                  <a:lnTo>
                    <a:pt x="53213" y="3959860"/>
                  </a:lnTo>
                  <a:cubicBezTo>
                    <a:pt x="23876" y="3959860"/>
                    <a:pt x="0" y="3935984"/>
                    <a:pt x="0" y="390664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7026" y="3532880"/>
            <a:ext cx="798014" cy="798014"/>
            <a:chOff x="0" y="0"/>
            <a:chExt cx="1064019" cy="106401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0"/>
                  </a:moveTo>
                  <a:lnTo>
                    <a:pt x="1064006" y="0"/>
                  </a:lnTo>
                  <a:lnTo>
                    <a:pt x="1064006" y="1064006"/>
                  </a:lnTo>
                  <a:lnTo>
                    <a:pt x="0" y="1064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16396" y="3752259"/>
            <a:ext cx="359121" cy="359121"/>
          </a:xfrm>
          <a:custGeom>
            <a:avLst/>
            <a:gdLst/>
            <a:ahLst/>
            <a:cxnLst/>
            <a:rect r="r" b="b" t="t" l="l"/>
            <a:pathLst>
              <a:path h="359121" w="359121">
                <a:moveTo>
                  <a:pt x="0" y="0"/>
                </a:moveTo>
                <a:lnTo>
                  <a:pt x="359121" y="0"/>
                </a:lnTo>
                <a:lnTo>
                  <a:pt x="359121" y="359122"/>
                </a:lnTo>
                <a:lnTo>
                  <a:pt x="0" y="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685" t="0" r="-2368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7026" y="4551912"/>
            <a:ext cx="5102723" cy="44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Analyze Transaction Behavior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7026" y="5088579"/>
            <a:ext cx="7556154" cy="8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Identify high-revenue streams and underperforming payment categories to optimize product strategy.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8720" y="3266923"/>
            <a:ext cx="8088211" cy="2969866"/>
            <a:chOff x="0" y="0"/>
            <a:chExt cx="10784281" cy="39598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4332" cy="3959860"/>
            </a:xfrm>
            <a:custGeom>
              <a:avLst/>
              <a:gdLst/>
              <a:ahLst/>
              <a:cxnLst/>
              <a:rect r="r" b="b" t="t" l="l"/>
              <a:pathLst>
                <a:path h="3959860" w="10784332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31119" y="0"/>
                  </a:lnTo>
                  <a:cubicBezTo>
                    <a:pt x="10760456" y="0"/>
                    <a:pt x="10784332" y="23876"/>
                    <a:pt x="10784332" y="53213"/>
                  </a:cubicBezTo>
                  <a:lnTo>
                    <a:pt x="10784332" y="3906647"/>
                  </a:lnTo>
                  <a:cubicBezTo>
                    <a:pt x="10784332" y="3935984"/>
                    <a:pt x="10760456" y="3959860"/>
                    <a:pt x="10731119" y="3959860"/>
                  </a:cubicBezTo>
                  <a:lnTo>
                    <a:pt x="53213" y="3959860"/>
                  </a:lnTo>
                  <a:cubicBezTo>
                    <a:pt x="23876" y="3959860"/>
                    <a:pt x="0" y="3935984"/>
                    <a:pt x="0" y="390664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34677" y="3532880"/>
            <a:ext cx="798014" cy="798014"/>
            <a:chOff x="0" y="0"/>
            <a:chExt cx="1064019" cy="106401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0"/>
                  </a:moveTo>
                  <a:lnTo>
                    <a:pt x="1064006" y="0"/>
                  </a:lnTo>
                  <a:lnTo>
                    <a:pt x="1064006" y="1064006"/>
                  </a:lnTo>
                  <a:lnTo>
                    <a:pt x="0" y="1064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754048" y="3752259"/>
            <a:ext cx="359121" cy="359121"/>
          </a:xfrm>
          <a:custGeom>
            <a:avLst/>
            <a:gdLst/>
            <a:ahLst/>
            <a:cxnLst/>
            <a:rect r="r" b="b" t="t" l="l"/>
            <a:pathLst>
              <a:path h="359121" w="359121">
                <a:moveTo>
                  <a:pt x="0" y="0"/>
                </a:moveTo>
                <a:lnTo>
                  <a:pt x="359121" y="0"/>
                </a:lnTo>
                <a:lnTo>
                  <a:pt x="359121" y="359122"/>
                </a:lnTo>
                <a:lnTo>
                  <a:pt x="0" y="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34677" y="4551912"/>
            <a:ext cx="4680052" cy="44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Map Regional Performance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4677" y="5088579"/>
            <a:ext cx="7556297" cy="8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Pinpoint top-performing and underperforming geographic markets for targeted expansion.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1069" y="6486373"/>
            <a:ext cx="8088068" cy="2969866"/>
            <a:chOff x="0" y="0"/>
            <a:chExt cx="10784091" cy="39598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84078" cy="3959860"/>
            </a:xfrm>
            <a:custGeom>
              <a:avLst/>
              <a:gdLst/>
              <a:ahLst/>
              <a:cxnLst/>
              <a:rect r="r" b="b" t="t" l="l"/>
              <a:pathLst>
                <a:path h="3959860" w="10784078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30865" y="0"/>
                  </a:lnTo>
                  <a:cubicBezTo>
                    <a:pt x="10760202" y="0"/>
                    <a:pt x="10784078" y="23876"/>
                    <a:pt x="10784078" y="53213"/>
                  </a:cubicBezTo>
                  <a:lnTo>
                    <a:pt x="10784078" y="3906647"/>
                  </a:lnTo>
                  <a:cubicBezTo>
                    <a:pt x="10784078" y="3935984"/>
                    <a:pt x="10760202" y="3959860"/>
                    <a:pt x="10730865" y="3959860"/>
                  </a:cubicBezTo>
                  <a:lnTo>
                    <a:pt x="53213" y="3959860"/>
                  </a:lnTo>
                  <a:cubicBezTo>
                    <a:pt x="23876" y="3959860"/>
                    <a:pt x="0" y="3935984"/>
                    <a:pt x="0" y="390664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97026" y="6752330"/>
            <a:ext cx="798014" cy="798014"/>
            <a:chOff x="0" y="0"/>
            <a:chExt cx="1064019" cy="1064019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0"/>
                  </a:moveTo>
                  <a:lnTo>
                    <a:pt x="1064006" y="0"/>
                  </a:lnTo>
                  <a:lnTo>
                    <a:pt x="1064006" y="1064006"/>
                  </a:lnTo>
                  <a:lnTo>
                    <a:pt x="0" y="1064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416396" y="6971709"/>
            <a:ext cx="359121" cy="359121"/>
          </a:xfrm>
          <a:custGeom>
            <a:avLst/>
            <a:gdLst/>
            <a:ahLst/>
            <a:cxnLst/>
            <a:rect r="r" b="b" t="t" l="l"/>
            <a:pathLst>
              <a:path h="359121" w="359121">
                <a:moveTo>
                  <a:pt x="0" y="0"/>
                </a:moveTo>
                <a:lnTo>
                  <a:pt x="359121" y="0"/>
                </a:lnTo>
                <a:lnTo>
                  <a:pt x="359121" y="359122"/>
                </a:lnTo>
                <a:lnTo>
                  <a:pt x="0" y="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7631" r="0" b="-27631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97026" y="7771362"/>
            <a:ext cx="4550721" cy="44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Evaluate User Engagement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7026" y="8308029"/>
            <a:ext cx="7556154" cy="8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Segment the user base by device preferences and app usage frequency to improve retention.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68720" y="6486373"/>
            <a:ext cx="8088211" cy="2969866"/>
            <a:chOff x="0" y="0"/>
            <a:chExt cx="10784281" cy="39598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84332" cy="3959860"/>
            </a:xfrm>
            <a:custGeom>
              <a:avLst/>
              <a:gdLst/>
              <a:ahLst/>
              <a:cxnLst/>
              <a:rect r="r" b="b" t="t" l="l"/>
              <a:pathLst>
                <a:path h="3959860" w="10784332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31119" y="0"/>
                  </a:lnTo>
                  <a:cubicBezTo>
                    <a:pt x="10760456" y="0"/>
                    <a:pt x="10784332" y="23876"/>
                    <a:pt x="10784332" y="53213"/>
                  </a:cubicBezTo>
                  <a:lnTo>
                    <a:pt x="10784332" y="3906647"/>
                  </a:lnTo>
                  <a:cubicBezTo>
                    <a:pt x="10784332" y="3935984"/>
                    <a:pt x="10760456" y="3959860"/>
                    <a:pt x="10731119" y="3959860"/>
                  </a:cubicBezTo>
                  <a:lnTo>
                    <a:pt x="53213" y="3959860"/>
                  </a:lnTo>
                  <a:cubicBezTo>
                    <a:pt x="23876" y="3959860"/>
                    <a:pt x="0" y="3935984"/>
                    <a:pt x="0" y="390664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34677" y="6752330"/>
            <a:ext cx="798014" cy="798014"/>
            <a:chOff x="0" y="0"/>
            <a:chExt cx="1064019" cy="1064019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0"/>
                  </a:moveTo>
                  <a:lnTo>
                    <a:pt x="1064006" y="0"/>
                  </a:lnTo>
                  <a:lnTo>
                    <a:pt x="1064006" y="1064006"/>
                  </a:lnTo>
                  <a:lnTo>
                    <a:pt x="0" y="1064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" b="-1"/>
              </a:stretch>
            </a:blip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754048" y="6971709"/>
            <a:ext cx="359121" cy="359121"/>
          </a:xfrm>
          <a:custGeom>
            <a:avLst/>
            <a:gdLst/>
            <a:ahLst/>
            <a:cxnLst/>
            <a:rect r="r" b="b" t="t" l="l"/>
            <a:pathLst>
              <a:path h="359121" w="359121">
                <a:moveTo>
                  <a:pt x="0" y="0"/>
                </a:moveTo>
                <a:lnTo>
                  <a:pt x="359121" y="0"/>
                </a:lnTo>
                <a:lnTo>
                  <a:pt x="359121" y="359122"/>
                </a:lnTo>
                <a:lnTo>
                  <a:pt x="0" y="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0527" r="0" b="-10527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534677" y="7771362"/>
            <a:ext cx="4905823" cy="44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Assess Insurance Penetration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34677" y="8308029"/>
            <a:ext cx="7556297" cy="8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Track the adoption rates of newly launched insurance products across different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626" y="733130"/>
            <a:ext cx="11141573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Technology Stack &amp;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626" y="1620593"/>
            <a:ext cx="5166865" cy="4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Building a Robust Data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54746" y="2638577"/>
            <a:ext cx="5384159" cy="6638630"/>
            <a:chOff x="0" y="0"/>
            <a:chExt cx="7178878" cy="885150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178929" cy="8851519"/>
            </a:xfrm>
            <a:custGeom>
              <a:avLst/>
              <a:gdLst/>
              <a:ahLst/>
              <a:cxnLst/>
              <a:rect r="r" b="b" t="t" l="l"/>
              <a:pathLst>
                <a:path h="8851519" w="7178929">
                  <a:moveTo>
                    <a:pt x="0" y="0"/>
                  </a:moveTo>
                  <a:lnTo>
                    <a:pt x="7178929" y="0"/>
                  </a:lnTo>
                  <a:lnTo>
                    <a:pt x="7178929" y="8851519"/>
                  </a:lnTo>
                  <a:lnTo>
                    <a:pt x="0" y="8851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33199" y="2960484"/>
            <a:ext cx="3184322" cy="4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Components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33199" y="3539881"/>
            <a:ext cx="5372548" cy="34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b="true" sz="2000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Language &amp; Manipulation:</a:t>
            </a: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Python, Pandas, JSON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b="true" sz="2000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Database Management:</a:t>
            </a: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SQLite3 (Relational Database)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b="true" sz="2000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Visualization:</a:t>
            </a: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Plotly Express, Seaborn, Matplotlib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b="true" sz="2000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&amp; Deployment:</a:t>
            </a: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Streamlit, Streamlit Community Cloud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33199" y="7152237"/>
            <a:ext cx="3184322" cy="4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3199" y="7731623"/>
            <a:ext cx="5372548" cy="122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Interactive dynamic filtering, real-time geographical mapping, and structured financial analysis.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6327" y="840877"/>
            <a:ext cx="10789301" cy="75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Methodology: The ETL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6327" y="1719710"/>
            <a:ext cx="397906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Extract, Transform, Load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6327" y="2382888"/>
            <a:ext cx="16555345" cy="4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To handle massive volumes of nested data, an automated Python pipeline was constructed.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6327" y="3053801"/>
            <a:ext cx="5518394" cy="990152"/>
            <a:chOff x="0" y="0"/>
            <a:chExt cx="7357859" cy="132020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357872" cy="1320165"/>
            </a:xfrm>
            <a:custGeom>
              <a:avLst/>
              <a:gdLst/>
              <a:ahLst/>
              <a:cxnLst/>
              <a:rect r="r" b="b" t="t" l="l"/>
              <a:pathLst>
                <a:path h="1320165" w="7357872">
                  <a:moveTo>
                    <a:pt x="0" y="0"/>
                  </a:moveTo>
                  <a:lnTo>
                    <a:pt x="7357872" y="0"/>
                  </a:lnTo>
                  <a:lnTo>
                    <a:pt x="7357872" y="1320165"/>
                  </a:lnTo>
                  <a:lnTo>
                    <a:pt x="0" y="132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3" r="0" b="-5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3834" y="4250531"/>
            <a:ext cx="3094282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Extract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3834" y="4719190"/>
            <a:ext cx="5023399" cy="116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Cloned highly nested JSON files organized by year, quarter, and state from the official PhonePe Pulse GitHub repository.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84722" y="3053801"/>
            <a:ext cx="5518394" cy="990152"/>
            <a:chOff x="0" y="0"/>
            <a:chExt cx="7357859" cy="132020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357872" cy="1320165"/>
            </a:xfrm>
            <a:custGeom>
              <a:avLst/>
              <a:gdLst/>
              <a:ahLst/>
              <a:cxnLst/>
              <a:rect r="r" b="b" t="t" l="l"/>
              <a:pathLst>
                <a:path h="1320165" w="7357872">
                  <a:moveTo>
                    <a:pt x="0" y="0"/>
                  </a:moveTo>
                  <a:lnTo>
                    <a:pt x="7357872" y="0"/>
                  </a:lnTo>
                  <a:lnTo>
                    <a:pt x="7357872" y="1320165"/>
                  </a:lnTo>
                  <a:lnTo>
                    <a:pt x="0" y="132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" r="0" b="-5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32229" y="4250531"/>
            <a:ext cx="3094282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2229" y="4719190"/>
            <a:ext cx="5023399" cy="116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Flattened complex JSON structures into 9 clean, structured Pandas DataFrames (Aggregated, Map, and Top metrics).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03126" y="3053801"/>
            <a:ext cx="5518394" cy="990152"/>
            <a:chOff x="0" y="0"/>
            <a:chExt cx="7357859" cy="1320203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357872" cy="1320165"/>
            </a:xfrm>
            <a:custGeom>
              <a:avLst/>
              <a:gdLst/>
              <a:ahLst/>
              <a:cxnLst/>
              <a:rect r="r" b="b" t="t" l="l"/>
              <a:pathLst>
                <a:path h="1320165" w="7357872">
                  <a:moveTo>
                    <a:pt x="0" y="0"/>
                  </a:moveTo>
                  <a:lnTo>
                    <a:pt x="7357872" y="0"/>
                  </a:lnTo>
                  <a:lnTo>
                    <a:pt x="7357872" y="1320165"/>
                  </a:lnTo>
                  <a:lnTo>
                    <a:pt x="0" y="132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" r="0" b="-5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150623" y="4250531"/>
            <a:ext cx="3094282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50623" y="4719190"/>
            <a:ext cx="5023399" cy="154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Established a connection to a local sqlite3 database and pushed the DataFrames into 9 separate SQL tables for efficient querying.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66327" y="6749806"/>
            <a:ext cx="16555345" cy="2667743"/>
            <a:chOff x="0" y="0"/>
            <a:chExt cx="22073794" cy="3556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73870" cy="3557016"/>
            </a:xfrm>
            <a:custGeom>
              <a:avLst/>
              <a:gdLst/>
              <a:ahLst/>
              <a:cxnLst/>
              <a:rect r="r" b="b" t="t" l="l"/>
              <a:pathLst>
                <a:path h="3557016" w="22073870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22024339" y="0"/>
                  </a:lnTo>
                  <a:cubicBezTo>
                    <a:pt x="22051645" y="0"/>
                    <a:pt x="22073870" y="22225"/>
                    <a:pt x="22073870" y="49530"/>
                  </a:cubicBezTo>
                  <a:lnTo>
                    <a:pt x="22073870" y="3507486"/>
                  </a:lnTo>
                  <a:cubicBezTo>
                    <a:pt x="22073870" y="3534791"/>
                    <a:pt x="22051645" y="3557016"/>
                    <a:pt x="22024339" y="3557016"/>
                  </a:cubicBezTo>
                  <a:lnTo>
                    <a:pt x="49530" y="3557016"/>
                  </a:lnTo>
                  <a:cubicBezTo>
                    <a:pt x="22225" y="3557016"/>
                    <a:pt x="0" y="3534791"/>
                    <a:pt x="0" y="3507486"/>
                  </a:cubicBezTo>
                  <a:close/>
                </a:path>
              </a:pathLst>
            </a:custGeom>
            <a:solidFill>
              <a:srgbClr val="C3C2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3834" y="7118594"/>
            <a:ext cx="309410" cy="247498"/>
            <a:chOff x="0" y="0"/>
            <a:chExt cx="412547" cy="32999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12496" cy="329946"/>
            </a:xfrm>
            <a:custGeom>
              <a:avLst/>
              <a:gdLst/>
              <a:ahLst/>
              <a:cxnLst/>
              <a:rect r="r" b="b" t="t" l="l"/>
              <a:pathLst>
                <a:path h="329946" w="412496">
                  <a:moveTo>
                    <a:pt x="0" y="0"/>
                  </a:moveTo>
                  <a:lnTo>
                    <a:pt x="412496" y="0"/>
                  </a:lnTo>
                  <a:lnTo>
                    <a:pt x="412496" y="329946"/>
                  </a:lnTo>
                  <a:lnTo>
                    <a:pt x="0" y="329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89" r="-12" b="-804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70742" y="7027659"/>
            <a:ext cx="13188706" cy="2023167"/>
            <a:chOff x="0" y="0"/>
            <a:chExt cx="17584941" cy="2697556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7584928" cy="2697607"/>
            </a:xfrm>
            <a:custGeom>
              <a:avLst/>
              <a:gdLst/>
              <a:ahLst/>
              <a:cxnLst/>
              <a:rect r="r" b="b" t="t" l="l"/>
              <a:pathLst>
                <a:path h="2697607" w="17584928">
                  <a:moveTo>
                    <a:pt x="0" y="0"/>
                  </a:moveTo>
                  <a:lnTo>
                    <a:pt x="17584928" y="0"/>
                  </a:lnTo>
                  <a:lnTo>
                    <a:pt x="17584928" y="2697607"/>
                  </a:lnTo>
                  <a:lnTo>
                    <a:pt x="0" y="2697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8" t="0" r="-108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64479" y="1695898"/>
            <a:ext cx="976364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Case 1: Transaction Dynamics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4479" y="2321871"/>
            <a:ext cx="3574256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Decoding Payment Categories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64479" y="2936672"/>
            <a:ext cx="4172541" cy="2244481"/>
            <a:chOff x="0" y="0"/>
            <a:chExt cx="5563387" cy="29926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63362" cy="2992628"/>
            </a:xfrm>
            <a:custGeom>
              <a:avLst/>
              <a:gdLst/>
              <a:ahLst/>
              <a:cxnLst/>
              <a:rect r="r" b="b" t="t" l="l"/>
              <a:pathLst>
                <a:path h="2992628" w="5563362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5526405" y="0"/>
                  </a:lnTo>
                  <a:cubicBezTo>
                    <a:pt x="5546852" y="0"/>
                    <a:pt x="5563362" y="16510"/>
                    <a:pt x="5563362" y="36957"/>
                  </a:cubicBezTo>
                  <a:lnTo>
                    <a:pt x="5563362" y="2955671"/>
                  </a:lnTo>
                  <a:cubicBezTo>
                    <a:pt x="5563362" y="2976118"/>
                    <a:pt x="5546852" y="2992628"/>
                    <a:pt x="5526405" y="2992628"/>
                  </a:cubicBezTo>
                  <a:lnTo>
                    <a:pt x="36957" y="2992628"/>
                  </a:lnTo>
                  <a:cubicBezTo>
                    <a:pt x="16510" y="2992628"/>
                    <a:pt x="0" y="2976118"/>
                    <a:pt x="0" y="29556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695109" y="3111998"/>
            <a:ext cx="2311298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Insight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9331" y="3521421"/>
            <a:ext cx="3802856" cy="147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Peer-to-Peer (P2P) and Merchant payments form the absolute backbone of the platform (Merchant volume at 55.4%). However, high-margin categories like "Financial Services" show minimal contribution and stagnant growth.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64479" y="5301701"/>
            <a:ext cx="4172541" cy="1511798"/>
            <a:chOff x="0" y="0"/>
            <a:chExt cx="5563387" cy="20157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63362" cy="2015744"/>
            </a:xfrm>
            <a:custGeom>
              <a:avLst/>
              <a:gdLst/>
              <a:ahLst/>
              <a:cxnLst/>
              <a:rect r="r" b="b" t="t" l="l"/>
              <a:pathLst>
                <a:path h="2015744" w="5563362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5526405" y="0"/>
                  </a:lnTo>
                  <a:cubicBezTo>
                    <a:pt x="5546852" y="0"/>
                    <a:pt x="5563362" y="16510"/>
                    <a:pt x="5563362" y="36957"/>
                  </a:cubicBezTo>
                  <a:lnTo>
                    <a:pt x="5563362" y="1978787"/>
                  </a:lnTo>
                  <a:cubicBezTo>
                    <a:pt x="5563362" y="1999234"/>
                    <a:pt x="5546852" y="2015744"/>
                    <a:pt x="5526405" y="2015744"/>
                  </a:cubicBezTo>
                  <a:lnTo>
                    <a:pt x="36957" y="2015744"/>
                  </a:lnTo>
                  <a:cubicBezTo>
                    <a:pt x="16510" y="2015744"/>
                    <a:pt x="0" y="1999234"/>
                    <a:pt x="0" y="197878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95109" y="5477027"/>
            <a:ext cx="2311298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9331" y="5886450"/>
            <a:ext cx="3802856" cy="74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Deep integration into daily commerce is proven, but a lack of revenue diversification poses a risk.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764479" y="6934048"/>
            <a:ext cx="4172541" cy="1511798"/>
            <a:chOff x="0" y="0"/>
            <a:chExt cx="5563387" cy="20157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63362" cy="2015744"/>
            </a:xfrm>
            <a:custGeom>
              <a:avLst/>
              <a:gdLst/>
              <a:ahLst/>
              <a:cxnLst/>
              <a:rect r="r" b="b" t="t" l="l"/>
              <a:pathLst>
                <a:path h="2015744" w="5563362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5526405" y="0"/>
                  </a:lnTo>
                  <a:cubicBezTo>
                    <a:pt x="5546852" y="0"/>
                    <a:pt x="5563362" y="16510"/>
                    <a:pt x="5563362" y="36957"/>
                  </a:cubicBezTo>
                  <a:lnTo>
                    <a:pt x="5563362" y="1978787"/>
                  </a:lnTo>
                  <a:cubicBezTo>
                    <a:pt x="5563362" y="1999234"/>
                    <a:pt x="5546852" y="2015744"/>
                    <a:pt x="5526405" y="2015744"/>
                  </a:cubicBezTo>
                  <a:lnTo>
                    <a:pt x="36957" y="2015744"/>
                  </a:lnTo>
                  <a:cubicBezTo>
                    <a:pt x="16510" y="2015744"/>
                    <a:pt x="0" y="1999234"/>
                    <a:pt x="0" y="197878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695109" y="7109374"/>
            <a:ext cx="2311298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Recommendation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9331" y="7518797"/>
            <a:ext cx="3802856" cy="74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Leverage the massive P2P user base to aggressively cross-sell financial services like micro-loans and mutual funds.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397506" y="3261722"/>
            <a:ext cx="6749358" cy="4506220"/>
            <a:chOff x="0" y="0"/>
            <a:chExt cx="8999144" cy="600829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999093" cy="6008243"/>
            </a:xfrm>
            <a:custGeom>
              <a:avLst/>
              <a:gdLst/>
              <a:ahLst/>
              <a:cxnLst/>
              <a:rect r="r" b="b" t="t" l="l"/>
              <a:pathLst>
                <a:path h="6008243" w="8999093">
                  <a:moveTo>
                    <a:pt x="0" y="0"/>
                  </a:moveTo>
                  <a:lnTo>
                    <a:pt x="8999093" y="0"/>
                  </a:lnTo>
                  <a:lnTo>
                    <a:pt x="8999093" y="6008243"/>
                  </a:lnTo>
                  <a:lnTo>
                    <a:pt x="0" y="6008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" t="0" r="-39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090" y="748903"/>
            <a:ext cx="11390062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Case 2: Device Dominance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090" y="1588884"/>
            <a:ext cx="5390255" cy="38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Optimizing for the User Ecosystem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1090" y="2505075"/>
            <a:ext cx="6465094" cy="6249591"/>
            <a:chOff x="0" y="0"/>
            <a:chExt cx="8620125" cy="83327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620125" cy="8332851"/>
            </a:xfrm>
            <a:custGeom>
              <a:avLst/>
              <a:gdLst/>
              <a:ahLst/>
              <a:cxnLst/>
              <a:rect r="r" b="b" t="t" l="l"/>
              <a:pathLst>
                <a:path h="8332851" w="8620125">
                  <a:moveTo>
                    <a:pt x="0" y="0"/>
                  </a:moveTo>
                  <a:lnTo>
                    <a:pt x="8620125" y="0"/>
                  </a:lnTo>
                  <a:lnTo>
                    <a:pt x="8620125" y="8332851"/>
                  </a:lnTo>
                  <a:lnTo>
                    <a:pt x="0" y="833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" t="0" r="-2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45971" y="3414265"/>
            <a:ext cx="2997403" cy="38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Insight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5971" y="3953466"/>
            <a:ext cx="7980464" cy="1463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PhonePe's user base is overwhelmingly driven by the Android ecosystem. Xiaomi leads with 25.7% market share, followed by Samsung (19.9%) and Vivo (18.5%). Apple users constitute a niche minority (~2.8%).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5971" y="5609930"/>
            <a:ext cx="2997403" cy="38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5971" y="6149130"/>
            <a:ext cx="7980464" cy="40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Clear direction for technical and marketing resource allocation.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5971" y="6743852"/>
            <a:ext cx="2997403" cy="38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Recommendation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5971" y="7283053"/>
            <a:ext cx="7980464" cy="11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Product development must prioritize Android app optimization, particularly for mid-range devices, ensuring the app remains lightweight, fast, and crash-free.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5269" y="2422769"/>
            <a:ext cx="8653310" cy="5441452"/>
            <a:chOff x="0" y="0"/>
            <a:chExt cx="11537747" cy="725526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537696" cy="7255256"/>
            </a:xfrm>
            <a:custGeom>
              <a:avLst/>
              <a:gdLst/>
              <a:ahLst/>
              <a:cxnLst/>
              <a:rect r="r" b="b" t="t" l="l"/>
              <a:pathLst>
                <a:path h="7255256" w="11537696">
                  <a:moveTo>
                    <a:pt x="0" y="0"/>
                  </a:moveTo>
                  <a:lnTo>
                    <a:pt x="11537696" y="0"/>
                  </a:lnTo>
                  <a:lnTo>
                    <a:pt x="11537696" y="7255256"/>
                  </a:lnTo>
                  <a:lnTo>
                    <a:pt x="0" y="72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30991" y="1714052"/>
            <a:ext cx="8009253" cy="1217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Case 3 &amp; 4: Geographical Expansion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0991" y="3023597"/>
            <a:ext cx="3982041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Urban-Rural Digital Divide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30991" y="3534070"/>
            <a:ext cx="28575" cy="5010150"/>
            <a:chOff x="0" y="0"/>
            <a:chExt cx="38100" cy="668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" cy="6680200"/>
            </a:xfrm>
            <a:custGeom>
              <a:avLst/>
              <a:gdLst/>
              <a:ahLst/>
              <a:cxnLst/>
              <a:rect r="r" b="b" t="t" l="l"/>
              <a:pathLst>
                <a:path h="668020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661150"/>
                  </a:lnTo>
                  <a:cubicBezTo>
                    <a:pt x="38100" y="6671691"/>
                    <a:pt x="29591" y="6680200"/>
                    <a:pt x="19050" y="6680200"/>
                  </a:cubicBezTo>
                  <a:cubicBezTo>
                    <a:pt x="8509" y="6680200"/>
                    <a:pt x="0" y="6671691"/>
                    <a:pt x="0" y="66611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59566" y="3534070"/>
            <a:ext cx="7770019" cy="1577426"/>
            <a:chOff x="0" y="0"/>
            <a:chExt cx="10360025" cy="21032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60025" cy="2103247"/>
            </a:xfrm>
            <a:custGeom>
              <a:avLst/>
              <a:gdLst/>
              <a:ahLst/>
              <a:cxnLst/>
              <a:rect r="r" b="b" t="t" l="l"/>
              <a:pathLst>
                <a:path h="2103247" w="10360025">
                  <a:moveTo>
                    <a:pt x="0" y="0"/>
                  </a:moveTo>
                  <a:lnTo>
                    <a:pt x="10360025" y="0"/>
                  </a:lnTo>
                  <a:lnTo>
                    <a:pt x="10360025" y="2103247"/>
                  </a:lnTo>
                  <a:lnTo>
                    <a:pt x="0" y="2103247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55723" y="3730228"/>
            <a:ext cx="2453583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Insight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5723" y="4099322"/>
            <a:ext cx="7377703" cy="8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Tier-1 urban districts (Bengaluru Urban, Hyderabad, Pune) and states (Karnataka, Maharashtra) heavily dominate transaction volumes and insurance adoption. Rural districts (e.g., Nuiland) show minimal digital penetration.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59566" y="5383263"/>
            <a:ext cx="7770019" cy="1311773"/>
            <a:chOff x="0" y="0"/>
            <a:chExt cx="10360025" cy="1749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60025" cy="1749044"/>
            </a:xfrm>
            <a:custGeom>
              <a:avLst/>
              <a:gdLst/>
              <a:ahLst/>
              <a:cxnLst/>
              <a:rect r="r" b="b" t="t" l="l"/>
              <a:pathLst>
                <a:path h="1749044" w="10360025">
                  <a:moveTo>
                    <a:pt x="0" y="0"/>
                  </a:moveTo>
                  <a:lnTo>
                    <a:pt x="10360025" y="0"/>
                  </a:lnTo>
                  <a:lnTo>
                    <a:pt x="10360025" y="1749044"/>
                  </a:lnTo>
                  <a:lnTo>
                    <a:pt x="0" y="1749044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055723" y="5579421"/>
            <a:ext cx="2453583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Impact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5723" y="5948515"/>
            <a:ext cx="7377703" cy="55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Reliable revenue comes from cities, but the next wave of growth lies in untapped rural markets.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59566" y="6966795"/>
            <a:ext cx="7770019" cy="1577426"/>
            <a:chOff x="0" y="0"/>
            <a:chExt cx="10360025" cy="21032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60025" cy="2103247"/>
            </a:xfrm>
            <a:custGeom>
              <a:avLst/>
              <a:gdLst/>
              <a:ahLst/>
              <a:cxnLst/>
              <a:rect r="r" b="b" t="t" l="l"/>
              <a:pathLst>
                <a:path h="2103247" w="10360025">
                  <a:moveTo>
                    <a:pt x="0" y="0"/>
                  </a:moveTo>
                  <a:lnTo>
                    <a:pt x="10360025" y="0"/>
                  </a:lnTo>
                  <a:lnTo>
                    <a:pt x="10360025" y="2103247"/>
                  </a:lnTo>
                  <a:lnTo>
                    <a:pt x="0" y="2103247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055723" y="7162952"/>
            <a:ext cx="2453583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Recommendation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55723" y="7532046"/>
            <a:ext cx="7377703" cy="8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Maintain urban dominance with premium features, while launching localized, vernacular educational campaigns and low-bandwidth "lite" app versions for rural districts.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786778" y="972588"/>
            <a:ext cx="8823782" cy="46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Case 5: User Engagement Trends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778" y="1510751"/>
            <a:ext cx="3436296" cy="2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Registrations vs. Actual App Opens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6778" y="1965874"/>
            <a:ext cx="1941014" cy="2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Insight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86778" y="2283914"/>
            <a:ext cx="5056880" cy="58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Analysis reveals only a moderate correlation (0.61) between total registered users and actual app opens. Furthermore, a sharp drop in user registration momentum was observed in 2022.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6778" y="2954836"/>
            <a:ext cx="1941014" cy="2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6778" y="3272876"/>
            <a:ext cx="5056880" cy="3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significant portion of the acquired user base is dormant or engages infrequently.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786778" y="3762223"/>
            <a:ext cx="4877695" cy="4046934"/>
            <a:chOff x="0" y="0"/>
            <a:chExt cx="6503594" cy="53959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503543" cy="5395976"/>
            </a:xfrm>
            <a:custGeom>
              <a:avLst/>
              <a:gdLst/>
              <a:ahLst/>
              <a:cxnLst/>
              <a:rect r="r" b="b" t="t" l="l"/>
              <a:pathLst>
                <a:path h="5395976" w="6503543">
                  <a:moveTo>
                    <a:pt x="0" y="0"/>
                  </a:moveTo>
                  <a:lnTo>
                    <a:pt x="6503543" y="0"/>
                  </a:lnTo>
                  <a:lnTo>
                    <a:pt x="6503543" y="5395976"/>
                  </a:lnTo>
                  <a:lnTo>
                    <a:pt x="0" y="539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" r="0" b="-2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31811" y="3388519"/>
            <a:ext cx="4632569" cy="3008414"/>
            <a:chOff x="0" y="0"/>
            <a:chExt cx="6176759" cy="401121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176772" cy="4011168"/>
            </a:xfrm>
            <a:custGeom>
              <a:avLst/>
              <a:gdLst/>
              <a:ahLst/>
              <a:cxnLst/>
              <a:rect r="r" b="b" t="t" l="l"/>
              <a:pathLst>
                <a:path h="4011168" w="6176772">
                  <a:moveTo>
                    <a:pt x="0" y="0"/>
                  </a:moveTo>
                  <a:lnTo>
                    <a:pt x="6176772" y="0"/>
                  </a:lnTo>
                  <a:lnTo>
                    <a:pt x="6176772" y="4011168"/>
                  </a:lnTo>
                  <a:lnTo>
                    <a:pt x="0" y="401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1" r="0" b="-6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777253" y="8259366"/>
            <a:ext cx="5333705" cy="1045369"/>
            <a:chOff x="0" y="0"/>
            <a:chExt cx="7111606" cy="13938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7086092" cy="1368425"/>
            </a:xfrm>
            <a:custGeom>
              <a:avLst/>
              <a:gdLst/>
              <a:ahLst/>
              <a:cxnLst/>
              <a:rect r="r" b="b" t="t" l="l"/>
              <a:pathLst>
                <a:path h="1368425" w="7086092">
                  <a:moveTo>
                    <a:pt x="0" y="31115"/>
                  </a:moveTo>
                  <a:cubicBezTo>
                    <a:pt x="0" y="13970"/>
                    <a:pt x="14097" y="0"/>
                    <a:pt x="31496" y="0"/>
                  </a:cubicBezTo>
                  <a:lnTo>
                    <a:pt x="7054596" y="0"/>
                  </a:lnTo>
                  <a:cubicBezTo>
                    <a:pt x="7071995" y="0"/>
                    <a:pt x="7086092" y="13970"/>
                    <a:pt x="7086092" y="31115"/>
                  </a:cubicBezTo>
                  <a:lnTo>
                    <a:pt x="7086092" y="1337310"/>
                  </a:lnTo>
                  <a:cubicBezTo>
                    <a:pt x="7086092" y="1354455"/>
                    <a:pt x="7071995" y="1368425"/>
                    <a:pt x="7054596" y="1368425"/>
                  </a:cubicBezTo>
                  <a:lnTo>
                    <a:pt x="31496" y="1368425"/>
                  </a:lnTo>
                  <a:cubicBezTo>
                    <a:pt x="14097" y="1368425"/>
                    <a:pt x="0" y="1354455"/>
                    <a:pt x="0" y="1337310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1492" cy="1393825"/>
            </a:xfrm>
            <a:custGeom>
              <a:avLst/>
              <a:gdLst/>
              <a:ahLst/>
              <a:cxnLst/>
              <a:rect r="r" b="b" t="t" l="l"/>
              <a:pathLst>
                <a:path h="1393825" w="7111492">
                  <a:moveTo>
                    <a:pt x="0" y="43815"/>
                  </a:moveTo>
                  <a:cubicBezTo>
                    <a:pt x="0" y="19431"/>
                    <a:pt x="19939" y="0"/>
                    <a:pt x="44196" y="0"/>
                  </a:cubicBezTo>
                  <a:lnTo>
                    <a:pt x="7067296" y="0"/>
                  </a:lnTo>
                  <a:lnTo>
                    <a:pt x="7067296" y="12700"/>
                  </a:lnTo>
                  <a:lnTo>
                    <a:pt x="7067296" y="0"/>
                  </a:lnTo>
                  <a:cubicBezTo>
                    <a:pt x="7091553" y="0"/>
                    <a:pt x="7111492" y="19431"/>
                    <a:pt x="7111492" y="43815"/>
                  </a:cubicBezTo>
                  <a:lnTo>
                    <a:pt x="7098792" y="43815"/>
                  </a:lnTo>
                  <a:lnTo>
                    <a:pt x="7111492" y="43815"/>
                  </a:lnTo>
                  <a:lnTo>
                    <a:pt x="7111492" y="1350010"/>
                  </a:lnTo>
                  <a:lnTo>
                    <a:pt x="7098792" y="1350010"/>
                  </a:lnTo>
                  <a:lnTo>
                    <a:pt x="7111492" y="1350010"/>
                  </a:lnTo>
                  <a:cubicBezTo>
                    <a:pt x="7111492" y="1374394"/>
                    <a:pt x="7091553" y="1393825"/>
                    <a:pt x="7067296" y="1393825"/>
                  </a:cubicBezTo>
                  <a:lnTo>
                    <a:pt x="7067296" y="1381125"/>
                  </a:lnTo>
                  <a:lnTo>
                    <a:pt x="7067296" y="1393825"/>
                  </a:lnTo>
                  <a:lnTo>
                    <a:pt x="44196" y="1393825"/>
                  </a:lnTo>
                  <a:lnTo>
                    <a:pt x="44196" y="1381125"/>
                  </a:lnTo>
                  <a:lnTo>
                    <a:pt x="44196" y="1393825"/>
                  </a:lnTo>
                  <a:cubicBezTo>
                    <a:pt x="19939" y="1393825"/>
                    <a:pt x="0" y="1374394"/>
                    <a:pt x="0" y="1350010"/>
                  </a:cubicBezTo>
                  <a:lnTo>
                    <a:pt x="0" y="43815"/>
                  </a:lnTo>
                  <a:lnTo>
                    <a:pt x="12700" y="43815"/>
                  </a:lnTo>
                  <a:lnTo>
                    <a:pt x="0" y="43815"/>
                  </a:lnTo>
                  <a:moveTo>
                    <a:pt x="25400" y="43815"/>
                  </a:moveTo>
                  <a:lnTo>
                    <a:pt x="25400" y="1350010"/>
                  </a:lnTo>
                  <a:lnTo>
                    <a:pt x="12700" y="1350010"/>
                  </a:lnTo>
                  <a:lnTo>
                    <a:pt x="25400" y="1350010"/>
                  </a:lnTo>
                  <a:cubicBezTo>
                    <a:pt x="25400" y="1359916"/>
                    <a:pt x="33655" y="1368425"/>
                    <a:pt x="44196" y="1368425"/>
                  </a:cubicBezTo>
                  <a:lnTo>
                    <a:pt x="7067296" y="1368425"/>
                  </a:lnTo>
                  <a:cubicBezTo>
                    <a:pt x="7077837" y="1368425"/>
                    <a:pt x="7086092" y="1360043"/>
                    <a:pt x="7086092" y="1350010"/>
                  </a:cubicBezTo>
                  <a:lnTo>
                    <a:pt x="7086092" y="43815"/>
                  </a:lnTo>
                  <a:cubicBezTo>
                    <a:pt x="7086092" y="33909"/>
                    <a:pt x="7077837" y="25400"/>
                    <a:pt x="7067296" y="25400"/>
                  </a:cubicBezTo>
                  <a:lnTo>
                    <a:pt x="44196" y="25400"/>
                  </a:lnTo>
                  <a:lnTo>
                    <a:pt x="44196" y="12700"/>
                  </a:lnTo>
                  <a:lnTo>
                    <a:pt x="44196" y="25400"/>
                  </a:lnTo>
                  <a:cubicBezTo>
                    <a:pt x="33655" y="25400"/>
                    <a:pt x="25400" y="33782"/>
                    <a:pt x="25400" y="43815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961057" y="8443170"/>
            <a:ext cx="2374849" cy="2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Shift Required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61057" y="8727129"/>
            <a:ext cx="4966097" cy="20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Shift focus from pure user acquisition to user retention strategies.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76890" y="8259366"/>
            <a:ext cx="5333848" cy="1045369"/>
            <a:chOff x="0" y="0"/>
            <a:chExt cx="7111797" cy="13938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7086346" cy="1368425"/>
            </a:xfrm>
            <a:custGeom>
              <a:avLst/>
              <a:gdLst/>
              <a:ahLst/>
              <a:cxnLst/>
              <a:rect r="r" b="b" t="t" l="l"/>
              <a:pathLst>
                <a:path h="1368425" w="7086346">
                  <a:moveTo>
                    <a:pt x="0" y="31115"/>
                  </a:moveTo>
                  <a:cubicBezTo>
                    <a:pt x="0" y="13970"/>
                    <a:pt x="14097" y="0"/>
                    <a:pt x="31496" y="0"/>
                  </a:cubicBezTo>
                  <a:lnTo>
                    <a:pt x="7054850" y="0"/>
                  </a:lnTo>
                  <a:cubicBezTo>
                    <a:pt x="7072249" y="0"/>
                    <a:pt x="7086346" y="13970"/>
                    <a:pt x="7086346" y="31115"/>
                  </a:cubicBezTo>
                  <a:lnTo>
                    <a:pt x="7086346" y="1337310"/>
                  </a:lnTo>
                  <a:cubicBezTo>
                    <a:pt x="7086346" y="1354455"/>
                    <a:pt x="7072249" y="1368425"/>
                    <a:pt x="7054850" y="1368425"/>
                  </a:cubicBezTo>
                  <a:lnTo>
                    <a:pt x="31496" y="1368425"/>
                  </a:lnTo>
                  <a:cubicBezTo>
                    <a:pt x="14097" y="1368425"/>
                    <a:pt x="0" y="1354455"/>
                    <a:pt x="0" y="1337310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11746" cy="1393825"/>
            </a:xfrm>
            <a:custGeom>
              <a:avLst/>
              <a:gdLst/>
              <a:ahLst/>
              <a:cxnLst/>
              <a:rect r="r" b="b" t="t" l="l"/>
              <a:pathLst>
                <a:path h="1393825" w="7111746">
                  <a:moveTo>
                    <a:pt x="0" y="43815"/>
                  </a:moveTo>
                  <a:cubicBezTo>
                    <a:pt x="0" y="19431"/>
                    <a:pt x="19939" y="0"/>
                    <a:pt x="44196" y="0"/>
                  </a:cubicBezTo>
                  <a:lnTo>
                    <a:pt x="7067550" y="0"/>
                  </a:lnTo>
                  <a:lnTo>
                    <a:pt x="7067550" y="12700"/>
                  </a:lnTo>
                  <a:lnTo>
                    <a:pt x="7067550" y="0"/>
                  </a:lnTo>
                  <a:cubicBezTo>
                    <a:pt x="7091807" y="0"/>
                    <a:pt x="7111746" y="19431"/>
                    <a:pt x="7111746" y="43815"/>
                  </a:cubicBezTo>
                  <a:lnTo>
                    <a:pt x="7099046" y="43815"/>
                  </a:lnTo>
                  <a:lnTo>
                    <a:pt x="7111746" y="43815"/>
                  </a:lnTo>
                  <a:lnTo>
                    <a:pt x="7111746" y="1350010"/>
                  </a:lnTo>
                  <a:lnTo>
                    <a:pt x="7099046" y="1350010"/>
                  </a:lnTo>
                  <a:lnTo>
                    <a:pt x="7111746" y="1350010"/>
                  </a:lnTo>
                  <a:cubicBezTo>
                    <a:pt x="7111746" y="1374394"/>
                    <a:pt x="7091807" y="1393825"/>
                    <a:pt x="7067550" y="1393825"/>
                  </a:cubicBezTo>
                  <a:lnTo>
                    <a:pt x="7067550" y="1381125"/>
                  </a:lnTo>
                  <a:lnTo>
                    <a:pt x="7067550" y="1393825"/>
                  </a:lnTo>
                  <a:lnTo>
                    <a:pt x="44196" y="1393825"/>
                  </a:lnTo>
                  <a:lnTo>
                    <a:pt x="44196" y="1381125"/>
                  </a:lnTo>
                  <a:lnTo>
                    <a:pt x="44196" y="1393825"/>
                  </a:lnTo>
                  <a:cubicBezTo>
                    <a:pt x="19939" y="1393825"/>
                    <a:pt x="0" y="1374394"/>
                    <a:pt x="0" y="1350010"/>
                  </a:cubicBezTo>
                  <a:lnTo>
                    <a:pt x="0" y="43815"/>
                  </a:lnTo>
                  <a:lnTo>
                    <a:pt x="12700" y="43815"/>
                  </a:lnTo>
                  <a:lnTo>
                    <a:pt x="0" y="43815"/>
                  </a:lnTo>
                  <a:moveTo>
                    <a:pt x="25400" y="43815"/>
                  </a:moveTo>
                  <a:lnTo>
                    <a:pt x="25400" y="1350010"/>
                  </a:lnTo>
                  <a:lnTo>
                    <a:pt x="12700" y="1350010"/>
                  </a:lnTo>
                  <a:lnTo>
                    <a:pt x="25400" y="1350010"/>
                  </a:lnTo>
                  <a:cubicBezTo>
                    <a:pt x="25400" y="1359916"/>
                    <a:pt x="33655" y="1368425"/>
                    <a:pt x="44196" y="1368425"/>
                  </a:cubicBezTo>
                  <a:lnTo>
                    <a:pt x="7067550" y="1368425"/>
                  </a:lnTo>
                  <a:cubicBezTo>
                    <a:pt x="7078091" y="1368425"/>
                    <a:pt x="7086346" y="1360043"/>
                    <a:pt x="7086346" y="1350010"/>
                  </a:cubicBezTo>
                  <a:lnTo>
                    <a:pt x="7086346" y="43815"/>
                  </a:lnTo>
                  <a:cubicBezTo>
                    <a:pt x="7086346" y="33909"/>
                    <a:pt x="7078091" y="25400"/>
                    <a:pt x="7067550" y="25400"/>
                  </a:cubicBezTo>
                  <a:lnTo>
                    <a:pt x="44196" y="25400"/>
                  </a:lnTo>
                  <a:lnTo>
                    <a:pt x="44196" y="12700"/>
                  </a:lnTo>
                  <a:lnTo>
                    <a:pt x="44196" y="25400"/>
                  </a:lnTo>
                  <a:cubicBezTo>
                    <a:pt x="33655" y="25400"/>
                    <a:pt x="25400" y="33782"/>
                    <a:pt x="25400" y="43815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360694" y="8443170"/>
            <a:ext cx="2355799" cy="2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Implementation Tactics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60694" y="8727129"/>
            <a:ext cx="4966249" cy="3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Implement personalized push notifications, gamified rewards, and loyalty programs to boost Daily Active Users (DAU).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84359" y="3413970"/>
            <a:ext cx="6149130" cy="3458918"/>
            <a:chOff x="0" y="0"/>
            <a:chExt cx="8198841" cy="461189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198866" cy="4611878"/>
            </a:xfrm>
            <a:custGeom>
              <a:avLst/>
              <a:gdLst/>
              <a:ahLst/>
              <a:cxnLst/>
              <a:rect r="r" b="b" t="t" l="l"/>
              <a:pathLst>
                <a:path h="4611878" w="8198866">
                  <a:moveTo>
                    <a:pt x="0" y="0"/>
                  </a:moveTo>
                  <a:lnTo>
                    <a:pt x="8198866" y="0"/>
                  </a:lnTo>
                  <a:lnTo>
                    <a:pt x="8198866" y="4611878"/>
                  </a:lnTo>
                  <a:lnTo>
                    <a:pt x="0" y="4611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1548108"/>
            <a:ext cx="9780452" cy="174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Live Interactive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3442992"/>
            <a:ext cx="581768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Deploying Insights via Streamlit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24442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To make the SQL data accessible to stakeholders, a live web application was built using Streamlit Community Cloud.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92238" y="555635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666" t="0" r="-466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55314" y="5537302"/>
            <a:ext cx="416138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Real-Time Exploration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314" y="6083646"/>
            <a:ext cx="8382448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Users can dynamically slice data by Year, Quarter, and State.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92238" y="719003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55314" y="717098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 Storytelling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5314" y="7717336"/>
            <a:ext cx="8382448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Integrates Plotly for interactive maps, pie charts, and trend lines without requiring users to write SQL queries.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80382"/>
            <a:ext cx="12499947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 &amp; Strategic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89289"/>
            <a:ext cx="661630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Data-Driven Next Steps for PhonePe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190723"/>
            <a:ext cx="498832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720255"/>
            <a:ext cx="5245446" cy="38100"/>
            <a:chOff x="0" y="0"/>
            <a:chExt cx="6993928" cy="508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3919090"/>
            <a:ext cx="3831125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Diversify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465434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Push high-margin financial services to the existing massive P2P user base.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1206" y="3190723"/>
            <a:ext cx="493733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3720255"/>
            <a:ext cx="5245446" cy="38100"/>
            <a:chOff x="0" y="0"/>
            <a:chExt cx="6993928" cy="508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21206" y="3919090"/>
            <a:ext cx="3855048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Bridge the Divide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1206" y="4465434"/>
            <a:ext cx="524544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Launch targeted rural awareness campaigns to boost transaction and insurance penetration outside Tier-1 cities.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0163" y="3190723"/>
            <a:ext cx="594526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0163" y="3748678"/>
            <a:ext cx="5245446" cy="38100"/>
            <a:chOff x="0" y="0"/>
            <a:chExt cx="6993928" cy="508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50163" y="3919090"/>
            <a:ext cx="375935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 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0163" y="4465434"/>
            <a:ext cx="524544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Focus heavily on Android performance and retention strategies for dormant users.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6984359"/>
            <a:ext cx="540350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Access the Dashboard &amp; Code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7785792"/>
            <a:ext cx="16303523" cy="10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Live App: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u="sng">
                <a:solidFill>
                  <a:srgbClr val="403CCF"/>
                </a:solidFill>
                <a:latin typeface="Open Sans"/>
                <a:ea typeface="Open Sans"/>
                <a:cs typeface="Open Sans"/>
                <a:sym typeface="Open Sans"/>
                <a:hlinkClick r:id="rId4" tooltip="https://phonepe-transaction-insights-ms7sqpb5neh8gpfdjqrz8u.streamlit.app/"/>
              </a:rPr>
              <a:t>PhonePe Dashboard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 Code: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7" u="sng">
                <a:solidFill>
                  <a:srgbClr val="403CCF"/>
                </a:solidFill>
                <a:latin typeface="Open Sans"/>
                <a:ea typeface="Open Sans"/>
                <a:cs typeface="Open Sans"/>
                <a:sym typeface="Open Sans"/>
                <a:hlinkClick r:id="rId5" tooltip="https://github.com/SourabhKhamankar22/PhonePe-Transaction-Insights"/>
              </a:rPr>
              <a:t>GitHub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DAHFONbJdzE</dc:identifier>
  <dcterms:modified xsi:type="dcterms:W3CDTF">2011-08-01T06:04:30Z</dcterms:modified>
  <cp:revision>1</cp:revision>
  <dc:title>PhonePe-Transaction-Insights.pptx</dc:title>
</cp:coreProperties>
</file>